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slideLayouts/slideLayout1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668" r:id="rId2"/>
    <p:sldMasterId id="2147483674" r:id="rId3"/>
    <p:sldMasterId id="2147483648" r:id="rId4"/>
    <p:sldMasterId id="2147483684" r:id="rId5"/>
    <p:sldMasterId id="2147483697" r:id="rId6"/>
  </p:sldMasterIdLst>
  <p:notesMasterIdLst>
    <p:notesMasterId r:id="rId22"/>
  </p:notesMasterIdLst>
  <p:handoutMasterIdLst>
    <p:handoutMasterId r:id="rId23"/>
  </p:handoutMasterIdLst>
  <p:sldIdLst>
    <p:sldId id="485" r:id="rId7"/>
    <p:sldId id="419" r:id="rId8"/>
    <p:sldId id="499" r:id="rId9"/>
    <p:sldId id="487" r:id="rId10"/>
    <p:sldId id="505" r:id="rId11"/>
    <p:sldId id="506" r:id="rId12"/>
    <p:sldId id="507" r:id="rId13"/>
    <p:sldId id="508" r:id="rId14"/>
    <p:sldId id="509" r:id="rId15"/>
    <p:sldId id="510" r:id="rId16"/>
    <p:sldId id="511" r:id="rId17"/>
    <p:sldId id="512" r:id="rId18"/>
    <p:sldId id="500" r:id="rId19"/>
    <p:sldId id="490" r:id="rId20"/>
    <p:sldId id="503" r:id="rId21"/>
  </p:sldIdLst>
  <p:sldSz cx="9144000" cy="5143500" type="screen16x9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2E250A4-3EB2-B134-E341-8C227C66D9BC}" name="Aakash Ravichandran" initials="AR" userId="S::aakash.ravichandran@tum.de::f5ea6553-2ec0-4561-837a-377a7a64b4e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98C6EA"/>
    <a:srgbClr val="005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25" autoAdjust="0"/>
    <p:restoredTop sz="88272" autoAdjust="0"/>
  </p:normalViewPr>
  <p:slideViewPr>
    <p:cSldViewPr snapToGrid="0">
      <p:cViewPr varScale="1">
        <p:scale>
          <a:sx n="109" d="100"/>
          <a:sy n="109" d="100"/>
        </p:scale>
        <p:origin x="758" y="82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1" d="100"/>
          <a:sy n="131" d="100"/>
        </p:scale>
        <p:origin x="-810" y="-96"/>
      </p:cViewPr>
      <p:guideLst>
        <p:guide orient="horz" pos="2100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handoutMaster" Target="handoutMasters/handoutMaster1.xml"/><Relationship Id="rId28" Type="http://schemas.microsoft.com/office/2018/10/relationships/authors" Target="author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08/12/2025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08/12/2025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5005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600200"/>
            <a:ext cx="8508999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143125"/>
            <a:ext cx="8508999" cy="25431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600200"/>
            <a:ext cx="8508999" cy="50530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602000"/>
            <a:ext cx="4180910" cy="3095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602000"/>
            <a:ext cx="4180910" cy="3095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148752"/>
            <a:ext cx="4188333" cy="2547074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2148840"/>
            <a:ext cx="4180392" cy="2546911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152650"/>
            <a:ext cx="4197858" cy="2552700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2143125"/>
            <a:ext cx="4180392" cy="2543176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133600"/>
            <a:ext cx="9144000" cy="30099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00200"/>
            <a:ext cx="9144000" cy="354329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7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7829538" cy="28851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5" name="Bild 8" descr="20150416 tum logo blau png final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18800" y="324000"/>
            <a:ext cx="604774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4922462"/>
            <a:ext cx="1115376" cy="210507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‹#›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3" cstate="screen"/>
          <a:srcRect l="398" t="14167" b="1083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Lehrstuhl für Mustertechnik</a:t>
            </a:r>
          </a:p>
          <a:p>
            <a:pPr>
              <a:lnSpc>
                <a:spcPts val="900"/>
              </a:lnSpc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TUM</a:t>
            </a:r>
            <a:r>
              <a:rPr lang="de-DE" sz="800" baseline="0" dirty="0">
                <a:solidFill>
                  <a:schemeClr val="tx2"/>
                </a:solidFill>
                <a:latin typeface="+mn-lt"/>
              </a:rPr>
              <a:t> School </a:t>
            </a:r>
            <a:r>
              <a:rPr lang="de-DE" sz="800" baseline="0" dirty="0" err="1">
                <a:solidFill>
                  <a:schemeClr val="tx2"/>
                </a:solidFill>
                <a:latin typeface="+mn-lt"/>
              </a:rPr>
              <a:t>of</a:t>
            </a:r>
            <a:r>
              <a:rPr lang="de-DE" sz="800" dirty="0">
                <a:solidFill>
                  <a:schemeClr val="tx2"/>
                </a:solidFill>
                <a:latin typeface="+mn-lt"/>
              </a:rPr>
              <a:t> Musterverfahren</a:t>
            </a:r>
          </a:p>
          <a:p>
            <a:pPr>
              <a:lnSpc>
                <a:spcPts val="900"/>
              </a:lnSpc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Technische Universität</a:t>
            </a:r>
            <a:r>
              <a:rPr lang="de-DE" sz="800" baseline="0" dirty="0">
                <a:solidFill>
                  <a:schemeClr val="tx2"/>
                </a:solidFill>
                <a:latin typeface="+mn-lt"/>
              </a:rPr>
              <a:t> München</a:t>
            </a:r>
            <a:endParaRPr lang="de-DE" sz="800" dirty="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04" r:id="rId3"/>
    <p:sldLayoutId id="2147483657" r:id="rId4"/>
    <p:sldLayoutId id="2147483711" r:id="rId5"/>
    <p:sldLayoutId id="2147483703" r:id="rId6"/>
    <p:sldLayoutId id="2147483653" r:id="rId7"/>
    <p:sldLayoutId id="2147483656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BBDCB34D-C5D5-4E99-0550-490AAE400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789116"/>
            <a:ext cx="8508999" cy="376238"/>
          </a:xfrm>
        </p:spPr>
        <p:txBody>
          <a:bodyPr/>
          <a:lstStyle/>
          <a:p>
            <a:r>
              <a:rPr lang="en-US" dirty="0"/>
              <a:t>Geometric Nonlinear Isogeometric Shell Element Validation </a:t>
            </a:r>
            <a:endParaRPr lang="en-IN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AEB9D6AC-FDD4-E77F-E5FC-7B103D87BBF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12688" y="3863239"/>
            <a:ext cx="8508999" cy="1280261"/>
          </a:xfrm>
        </p:spPr>
        <p:txBody>
          <a:bodyPr/>
          <a:lstStyle/>
          <a:p>
            <a:r>
              <a:rPr lang="en-IN" dirty="0"/>
              <a:t>Aakash Ravichandran</a:t>
            </a:r>
            <a:br>
              <a:rPr lang="en-IN" dirty="0"/>
            </a:br>
            <a:r>
              <a:rPr lang="en-IN" dirty="0" err="1"/>
              <a:t>M.Sc</a:t>
            </a:r>
            <a:r>
              <a:rPr lang="en-IN" dirty="0"/>
              <a:t> Civil Engineering</a:t>
            </a:r>
            <a:br>
              <a:rPr lang="en-IN" dirty="0"/>
            </a:br>
            <a:r>
              <a:rPr lang="en-IN" dirty="0"/>
              <a:t>Technical University of Munich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3C598-02A7-8F8F-2321-9235CF4D4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87213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8874C-ACBB-305B-1143-4B8DC755D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B5B678-0B7A-2A38-5805-1CFD6D0AE1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18F280DD-4526-C0AA-E7BF-1FA40908E7E3}"/>
              </a:ext>
            </a:extLst>
          </p:cNvPr>
          <p:cNvSpPr txBox="1">
            <a:spLocks/>
          </p:cNvSpPr>
          <p:nvPr/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lang="de-DE" sz="2500" b="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GB" dirty="0"/>
              <a:t>Contents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0CAF65-12BF-A70C-74ED-273F094F9993}"/>
              </a:ext>
            </a:extLst>
          </p:cNvPr>
          <p:cNvSpPr txBox="1"/>
          <p:nvPr/>
        </p:nvSpPr>
        <p:spPr>
          <a:xfrm>
            <a:off x="2770384" y="2094696"/>
            <a:ext cx="42400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Model 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Study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743694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07CAF-E85B-6A0C-23FB-853A6C130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E2B1246-F793-56E6-864A-55A65781A6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399991-42A7-1ECF-F233-4B78976C2392}"/>
              </a:ext>
            </a:extLst>
          </p:cNvPr>
          <p:cNvSpPr txBox="1"/>
          <p:nvPr/>
        </p:nvSpPr>
        <p:spPr>
          <a:xfrm>
            <a:off x="2770384" y="2094696"/>
            <a:ext cx="42400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Model 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Study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85650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42CAC-B8CC-AB8C-A80C-E87B5FBCB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A96F63D-19B2-C84F-4D89-4158E5DBD0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B802D2F2-9A9B-EF9E-F821-791B88CD362F}"/>
              </a:ext>
            </a:extLst>
          </p:cNvPr>
          <p:cNvSpPr txBox="1">
            <a:spLocks/>
          </p:cNvSpPr>
          <p:nvPr/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lang="de-DE" sz="2500" b="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GB" dirty="0"/>
              <a:t>Objective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53A5BA-C07F-A929-6996-A465680A2164}"/>
              </a:ext>
            </a:extLst>
          </p:cNvPr>
          <p:cNvSpPr txBox="1"/>
          <p:nvPr/>
        </p:nvSpPr>
        <p:spPr>
          <a:xfrm>
            <a:off x="319090" y="912173"/>
            <a:ext cx="4902591" cy="2894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GB" dirty="0">
                <a:latin typeface="+mn-lt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F003EC-D53E-70A7-186B-20C0FFF03000}"/>
              </a:ext>
            </a:extLst>
          </p:cNvPr>
          <p:cNvSpPr txBox="1"/>
          <p:nvPr/>
        </p:nvSpPr>
        <p:spPr>
          <a:xfrm>
            <a:off x="1232544" y="1070182"/>
            <a:ext cx="54355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To validate the Geometric Nonlinear Analysis of the shell element with different types of patches in the Kratos IGA application. </a:t>
            </a:r>
          </a:p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09431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2E4A6-CB77-2E32-9F3F-674778AB4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19634F-FCE7-A584-4E40-4849FCA9D1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A49CC8-0724-9449-427A-8A98181CFFEB}"/>
              </a:ext>
            </a:extLst>
          </p:cNvPr>
          <p:cNvSpPr txBox="1"/>
          <p:nvPr/>
        </p:nvSpPr>
        <p:spPr>
          <a:xfrm>
            <a:off x="2770384" y="2094696"/>
            <a:ext cx="42400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Model 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Study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169645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13377-436A-30ED-DECA-0578A54D2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F31945-F673-1963-DDD7-D6D784E089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4D94E654-1122-1DD1-4052-40963C805738}"/>
              </a:ext>
            </a:extLst>
          </p:cNvPr>
          <p:cNvSpPr txBox="1">
            <a:spLocks/>
          </p:cNvSpPr>
          <p:nvPr/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lang="de-DE" sz="2500" b="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GB" dirty="0"/>
              <a:t>Model Description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D98A1D-94BB-C710-1F9B-78327C24EA27}"/>
              </a:ext>
            </a:extLst>
          </p:cNvPr>
          <p:cNvSpPr txBox="1"/>
          <p:nvPr/>
        </p:nvSpPr>
        <p:spPr>
          <a:xfrm>
            <a:off x="319090" y="912173"/>
            <a:ext cx="4902591" cy="2894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GB" dirty="0">
                <a:latin typeface="+mn-lt"/>
              </a:rPr>
              <a:t> </a:t>
            </a:r>
          </a:p>
        </p:txBody>
      </p:sp>
      <p:pic>
        <p:nvPicPr>
          <p:cNvPr id="2" name="Picture 1" descr="A line drawing of a bar&#10;&#10;AI-generated content may be incorrect.">
            <a:extLst>
              <a:ext uri="{FF2B5EF4-FFF2-40B4-BE49-F238E27FC236}">
                <a16:creationId xmlns:a16="http://schemas.microsoft.com/office/drawing/2014/main" id="{535424A5-875A-93F4-9E7C-F2B5D9B63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405" y="1112813"/>
            <a:ext cx="5731510" cy="1356360"/>
          </a:xfrm>
          <a:prstGeom prst="rect">
            <a:avLst/>
          </a:prstGeom>
        </p:spPr>
      </p:pic>
      <p:pic>
        <p:nvPicPr>
          <p:cNvPr id="7" name="Picture 6" descr="A graph of a function&#10;&#10;AI-generated content may be incorrect.">
            <a:extLst>
              <a:ext uri="{FF2B5EF4-FFF2-40B4-BE49-F238E27FC236}">
                <a16:creationId xmlns:a16="http://schemas.microsoft.com/office/drawing/2014/main" id="{EB0515C2-9560-4842-AFCC-4E18A0F2C5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405" y="2669813"/>
            <a:ext cx="2494280" cy="212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663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B4E5B-6A26-A2B7-5B99-AC451BF9F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0DF36D-B507-ED9D-9044-F35D8D9842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D3F528-226B-9481-ECE7-0517965EE14D}"/>
              </a:ext>
            </a:extLst>
          </p:cNvPr>
          <p:cNvSpPr txBox="1"/>
          <p:nvPr/>
        </p:nvSpPr>
        <p:spPr>
          <a:xfrm>
            <a:off x="2770384" y="2094696"/>
            <a:ext cx="42400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Model 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Study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063561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A5737-E845-27D6-65E9-40FBB01B1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1F4C425-6228-5657-0BFA-120CA07AD9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63D3796F-52FE-205A-5A77-076EB2627DE5}"/>
              </a:ext>
            </a:extLst>
          </p:cNvPr>
          <p:cNvSpPr txBox="1">
            <a:spLocks/>
          </p:cNvSpPr>
          <p:nvPr/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lang="de-DE" sz="2500" b="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GB" dirty="0"/>
              <a:t>Study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420A9B-96D0-09E9-4797-887F0160B555}"/>
              </a:ext>
            </a:extLst>
          </p:cNvPr>
          <p:cNvSpPr txBox="1"/>
          <p:nvPr/>
        </p:nvSpPr>
        <p:spPr>
          <a:xfrm>
            <a:off x="319090" y="912173"/>
            <a:ext cx="4902591" cy="2894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GB" dirty="0">
                <a:latin typeface="+mn-lt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7D38EF-C1F1-6F57-2864-644BABC826F1}"/>
              </a:ext>
            </a:extLst>
          </p:cNvPr>
          <p:cNvSpPr txBox="1"/>
          <p:nvPr/>
        </p:nvSpPr>
        <p:spPr>
          <a:xfrm>
            <a:off x="1847890" y="1663809"/>
            <a:ext cx="543554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The following types of patches were studied. </a:t>
            </a:r>
          </a:p>
          <a:p>
            <a:r>
              <a:rPr lang="en-GB" sz="1400" dirty="0"/>
              <a:t> </a:t>
            </a:r>
          </a:p>
          <a:p>
            <a:pPr lvl="3"/>
            <a:r>
              <a:rPr lang="en-GB" sz="1400" dirty="0"/>
              <a:t>1. Single Patch</a:t>
            </a:r>
          </a:p>
          <a:p>
            <a:pPr lvl="3"/>
            <a:r>
              <a:rPr lang="en-GB" sz="1400" dirty="0"/>
              <a:t>2. Matching Patches</a:t>
            </a:r>
          </a:p>
          <a:p>
            <a:pPr lvl="3"/>
            <a:r>
              <a:rPr lang="en-GB" sz="1400" dirty="0"/>
              <a:t>3. Non-Matching Patches</a:t>
            </a:r>
          </a:p>
          <a:p>
            <a:pPr lvl="3"/>
            <a:r>
              <a:rPr lang="en-GB" sz="1400" dirty="0"/>
              <a:t>4. Straight Trimmed Patches</a:t>
            </a:r>
          </a:p>
          <a:p>
            <a:pPr lvl="3"/>
            <a:r>
              <a:rPr lang="en-GB" sz="1400" dirty="0"/>
              <a:t>5. Curved Trimmed Patches</a:t>
            </a:r>
          </a:p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009039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1BD3B-A959-3FDB-1CEE-A5BF8AEC2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746F96C-7D25-0492-3C2B-CE3FAF30C3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70E40E14-53B5-7D0F-C449-CB5DF51991A9}"/>
              </a:ext>
            </a:extLst>
          </p:cNvPr>
          <p:cNvSpPr txBox="1">
            <a:spLocks/>
          </p:cNvSpPr>
          <p:nvPr/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lang="de-DE" sz="2500" b="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GB" dirty="0"/>
              <a:t>Study - Single Patch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6F40F8-1F14-3F62-45F6-24B3275FCC58}"/>
              </a:ext>
            </a:extLst>
          </p:cNvPr>
          <p:cNvSpPr txBox="1"/>
          <p:nvPr/>
        </p:nvSpPr>
        <p:spPr>
          <a:xfrm>
            <a:off x="319090" y="912173"/>
            <a:ext cx="4902591" cy="2894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GB" dirty="0">
                <a:latin typeface="+mn-lt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D8730A-AD9F-8F49-E2F9-2415BF348E36}"/>
              </a:ext>
            </a:extLst>
          </p:cNvPr>
          <p:cNvSpPr txBox="1"/>
          <p:nvPr/>
        </p:nvSpPr>
        <p:spPr>
          <a:xfrm>
            <a:off x="223072" y="912173"/>
            <a:ext cx="54355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 </a:t>
            </a:r>
          </a:p>
        </p:txBody>
      </p:sp>
      <p:pic>
        <p:nvPicPr>
          <p:cNvPr id="7" name="Picture 6" descr="A rainbow colored line on a grid&#10;&#10;AI-generated content may be incorrect.">
            <a:extLst>
              <a:ext uri="{FF2B5EF4-FFF2-40B4-BE49-F238E27FC236}">
                <a16:creationId xmlns:a16="http://schemas.microsoft.com/office/drawing/2014/main" id="{8B3E92A5-6295-0E97-BBFF-E4AAFC204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90" y="1201611"/>
            <a:ext cx="4094368" cy="204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375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2D2F1-361C-7AA3-F577-3BFACFBB2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64EFEA-923D-169A-445B-0AB0918C89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A9C8CCF6-3734-6463-AD1F-B49E803D33F7}"/>
              </a:ext>
            </a:extLst>
          </p:cNvPr>
          <p:cNvSpPr txBox="1">
            <a:spLocks/>
          </p:cNvSpPr>
          <p:nvPr/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lang="de-DE" sz="2500" b="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GB" dirty="0"/>
              <a:t>Study - Matching Patches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413330-C73A-3B39-93F6-7C018B68F67B}"/>
              </a:ext>
            </a:extLst>
          </p:cNvPr>
          <p:cNvSpPr txBox="1"/>
          <p:nvPr/>
        </p:nvSpPr>
        <p:spPr>
          <a:xfrm>
            <a:off x="319090" y="912173"/>
            <a:ext cx="4902591" cy="2894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GB" dirty="0">
                <a:latin typeface="+mn-lt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1D8223-EAC7-D73A-FD08-40E8E760AA6D}"/>
              </a:ext>
            </a:extLst>
          </p:cNvPr>
          <p:cNvSpPr txBox="1"/>
          <p:nvPr/>
        </p:nvSpPr>
        <p:spPr>
          <a:xfrm>
            <a:off x="223072" y="912173"/>
            <a:ext cx="54355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 </a:t>
            </a:r>
          </a:p>
        </p:txBody>
      </p:sp>
      <p:pic>
        <p:nvPicPr>
          <p:cNvPr id="8" name="Picture 7" descr="A colorful lines on a grey surface&#10;&#10;AI-generated content may be incorrect.">
            <a:extLst>
              <a:ext uri="{FF2B5EF4-FFF2-40B4-BE49-F238E27FC236}">
                <a16:creationId xmlns:a16="http://schemas.microsoft.com/office/drawing/2014/main" id="{D198CAF4-710A-928C-D954-1C9EDD2F6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62" y="1122407"/>
            <a:ext cx="4428197" cy="221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75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26E91-DF8F-2380-3DBE-9FC6097BC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FD606D4-D5BD-340A-55F4-F716ABF91F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B3EF5965-23FD-5294-3ACA-E322484DC512}"/>
              </a:ext>
            </a:extLst>
          </p:cNvPr>
          <p:cNvSpPr txBox="1">
            <a:spLocks/>
          </p:cNvSpPr>
          <p:nvPr/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lang="de-DE" sz="2500" b="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GB" dirty="0"/>
              <a:t>Study - Non-Matching Patches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ADFCE9-0A99-DEA0-DA10-296EB9790BB4}"/>
              </a:ext>
            </a:extLst>
          </p:cNvPr>
          <p:cNvSpPr txBox="1"/>
          <p:nvPr/>
        </p:nvSpPr>
        <p:spPr>
          <a:xfrm>
            <a:off x="319090" y="912173"/>
            <a:ext cx="4902591" cy="2894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GB" dirty="0">
                <a:latin typeface="+mn-lt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B0B00A-4DAE-278B-974E-D540F9298667}"/>
              </a:ext>
            </a:extLst>
          </p:cNvPr>
          <p:cNvSpPr txBox="1"/>
          <p:nvPr/>
        </p:nvSpPr>
        <p:spPr>
          <a:xfrm>
            <a:off x="223072" y="912173"/>
            <a:ext cx="54355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 </a:t>
            </a:r>
          </a:p>
        </p:txBody>
      </p:sp>
      <p:pic>
        <p:nvPicPr>
          <p:cNvPr id="8" name="Picture 7" descr="A colorful lines on a grey surface&#10;&#10;AI-generated content may be incorrect.">
            <a:extLst>
              <a:ext uri="{FF2B5EF4-FFF2-40B4-BE49-F238E27FC236}">
                <a16:creationId xmlns:a16="http://schemas.microsoft.com/office/drawing/2014/main" id="{B499CC65-BA9D-FA94-6EC9-8C6F70B6E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62" y="1122407"/>
            <a:ext cx="4428197" cy="221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378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2DFB6-A615-3D63-C48D-FBAE9D40C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96DA4C-D152-765C-EC1A-3A1E3ED4E0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2DD4365A-DCDF-9AAD-1B3A-DEF5C9F7DDC3}"/>
              </a:ext>
            </a:extLst>
          </p:cNvPr>
          <p:cNvSpPr txBox="1">
            <a:spLocks/>
          </p:cNvSpPr>
          <p:nvPr/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lang="de-DE" sz="2500" b="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GB" dirty="0"/>
              <a:t>Study - Non-Matching Patches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45F547-09F4-5CC2-CD85-38F931FC996F}"/>
              </a:ext>
            </a:extLst>
          </p:cNvPr>
          <p:cNvSpPr txBox="1"/>
          <p:nvPr/>
        </p:nvSpPr>
        <p:spPr>
          <a:xfrm>
            <a:off x="319090" y="912173"/>
            <a:ext cx="4902591" cy="2894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GB" dirty="0">
                <a:latin typeface="+mn-lt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F46C9-3FE8-A91B-A4A0-655256A45F84}"/>
              </a:ext>
            </a:extLst>
          </p:cNvPr>
          <p:cNvSpPr txBox="1"/>
          <p:nvPr/>
        </p:nvSpPr>
        <p:spPr>
          <a:xfrm>
            <a:off x="223072" y="912173"/>
            <a:ext cx="54355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 </a:t>
            </a:r>
          </a:p>
        </p:txBody>
      </p:sp>
      <p:pic>
        <p:nvPicPr>
          <p:cNvPr id="8" name="Picture 7" descr="A colorful lines on a grey surface&#10;&#10;AI-generated content may be incorrect.">
            <a:extLst>
              <a:ext uri="{FF2B5EF4-FFF2-40B4-BE49-F238E27FC236}">
                <a16:creationId xmlns:a16="http://schemas.microsoft.com/office/drawing/2014/main" id="{33D38F0D-D8EC-C1DA-F251-570E21492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62" y="1122407"/>
            <a:ext cx="4428197" cy="221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632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16685-03B8-3F41-8E30-31C0DF028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C2A4DF-548C-A16E-BC9B-157BCE779A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F6637E-CACE-CA29-9988-2D145E707376}"/>
              </a:ext>
            </a:extLst>
          </p:cNvPr>
          <p:cNvSpPr txBox="1"/>
          <p:nvPr/>
        </p:nvSpPr>
        <p:spPr>
          <a:xfrm>
            <a:off x="2770384" y="2094696"/>
            <a:ext cx="42400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Implicit Vertex Morphing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Free-form Vs Implicit VM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Radius of Filter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Point Displacement constraint</a:t>
            </a:r>
          </a:p>
        </p:txBody>
      </p:sp>
    </p:spTree>
    <p:extLst>
      <p:ext uri="{BB962C8B-B14F-4D97-AF65-F5344CB8AC3E}">
        <p14:creationId xmlns:p14="http://schemas.microsoft.com/office/powerpoint/2010/main" val="1312888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79540-6F91-A505-40E6-409E65DE8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36DEA6D-EC7F-6F42-A479-9CD1E759AB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507BEF92-017D-55E4-3E95-0E53CA91DAD5}"/>
              </a:ext>
            </a:extLst>
          </p:cNvPr>
          <p:cNvSpPr txBox="1">
            <a:spLocks/>
          </p:cNvSpPr>
          <p:nvPr/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lang="de-DE" sz="2500" b="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GB" dirty="0"/>
              <a:t>Filter Radius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DD8A3-4A4E-7E8C-86A6-C96A8CF0F4F9}"/>
              </a:ext>
            </a:extLst>
          </p:cNvPr>
          <p:cNvSpPr txBox="1"/>
          <p:nvPr/>
        </p:nvSpPr>
        <p:spPr>
          <a:xfrm>
            <a:off x="319090" y="912173"/>
            <a:ext cx="4902591" cy="2894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GB" dirty="0" err="1">
                <a:latin typeface="+mn-lt"/>
              </a:rPr>
              <a:t>Archara</a:t>
            </a:r>
            <a:r>
              <a:rPr lang="en-GB" dirty="0">
                <a:latin typeface="+mn-lt"/>
              </a:rPr>
              <a:t> – Absolute update </a:t>
            </a:r>
          </a:p>
        </p:txBody>
      </p:sp>
      <p:pic>
        <p:nvPicPr>
          <p:cNvPr id="6" name="Picture 5" descr="A blue object with red spots&#10;&#10;AI-generated content may be incorrect.">
            <a:extLst>
              <a:ext uri="{FF2B5EF4-FFF2-40B4-BE49-F238E27FC236}">
                <a16:creationId xmlns:a16="http://schemas.microsoft.com/office/drawing/2014/main" id="{CE521100-0AA3-E82B-F2EA-19238913CA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45" t="16051" r="35287"/>
          <a:stretch/>
        </p:blipFill>
        <p:spPr>
          <a:xfrm>
            <a:off x="4640666" y="1577371"/>
            <a:ext cx="1621717" cy="2281317"/>
          </a:xfrm>
          <a:prstGeom prst="rect">
            <a:avLst/>
          </a:prstGeom>
        </p:spPr>
      </p:pic>
      <p:pic>
        <p:nvPicPr>
          <p:cNvPr id="8" name="Picture 7" descr="A blue and orange object&#10;&#10;AI-generated content may be incorrect.">
            <a:extLst>
              <a:ext uri="{FF2B5EF4-FFF2-40B4-BE49-F238E27FC236}">
                <a16:creationId xmlns:a16="http://schemas.microsoft.com/office/drawing/2014/main" id="{72DE0D39-B54C-7831-6F9A-8125C20041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761" t="16051" r="35671"/>
          <a:stretch/>
        </p:blipFill>
        <p:spPr>
          <a:xfrm>
            <a:off x="6821919" y="1577370"/>
            <a:ext cx="1621717" cy="2281317"/>
          </a:xfrm>
          <a:prstGeom prst="rect">
            <a:avLst/>
          </a:prstGeom>
        </p:spPr>
      </p:pic>
      <p:pic>
        <p:nvPicPr>
          <p:cNvPr id="10" name="Picture 9" descr="A blue object with red spots&#10;&#10;AI-generated content may be incorrect.">
            <a:extLst>
              <a:ext uri="{FF2B5EF4-FFF2-40B4-BE49-F238E27FC236}">
                <a16:creationId xmlns:a16="http://schemas.microsoft.com/office/drawing/2014/main" id="{DFC63228-00A3-C998-E6A6-F3B7E37892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108" t="16051" r="36387"/>
          <a:stretch/>
        </p:blipFill>
        <p:spPr>
          <a:xfrm>
            <a:off x="2559093" y="1577372"/>
            <a:ext cx="1522037" cy="2281316"/>
          </a:xfrm>
          <a:prstGeom prst="rect">
            <a:avLst/>
          </a:prstGeom>
        </p:spPr>
      </p:pic>
      <p:pic>
        <p:nvPicPr>
          <p:cNvPr id="12" name="Picture 11" descr="A blue object with red edges&#10;&#10;AI-generated content may be incorrect.">
            <a:extLst>
              <a:ext uri="{FF2B5EF4-FFF2-40B4-BE49-F238E27FC236}">
                <a16:creationId xmlns:a16="http://schemas.microsoft.com/office/drawing/2014/main" id="{5C28DE55-8C8B-6E76-7223-5C4F3FD6D8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597" t="16051" r="35898"/>
          <a:stretch/>
        </p:blipFill>
        <p:spPr>
          <a:xfrm>
            <a:off x="477520" y="1577372"/>
            <a:ext cx="1522037" cy="228131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B4C73C-0DDC-23EA-9E81-359943FA3D71}"/>
              </a:ext>
            </a:extLst>
          </p:cNvPr>
          <p:cNvSpPr txBox="1"/>
          <p:nvPr/>
        </p:nvSpPr>
        <p:spPr>
          <a:xfrm>
            <a:off x="586502" y="3915979"/>
            <a:ext cx="1304072" cy="315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Radius: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913A7F-4D96-3A31-98E6-D5D2C1933455}"/>
              </a:ext>
            </a:extLst>
          </p:cNvPr>
          <p:cNvSpPr txBox="1"/>
          <p:nvPr/>
        </p:nvSpPr>
        <p:spPr>
          <a:xfrm>
            <a:off x="2497363" y="3917036"/>
            <a:ext cx="1304072" cy="315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Radius: 6.5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A60086-ACEE-926E-D47D-0ADFB2AF233F}"/>
              </a:ext>
            </a:extLst>
          </p:cNvPr>
          <p:cNvSpPr txBox="1"/>
          <p:nvPr/>
        </p:nvSpPr>
        <p:spPr>
          <a:xfrm>
            <a:off x="4799488" y="3915980"/>
            <a:ext cx="1304072" cy="315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Radius: 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334613-2E18-5C21-1DC2-CBBE855CC3C9}"/>
              </a:ext>
            </a:extLst>
          </p:cNvPr>
          <p:cNvSpPr txBox="1"/>
          <p:nvPr/>
        </p:nvSpPr>
        <p:spPr>
          <a:xfrm>
            <a:off x="7101613" y="3915979"/>
            <a:ext cx="1304072" cy="315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Radius: 11</a:t>
            </a:r>
          </a:p>
        </p:txBody>
      </p:sp>
    </p:spTree>
    <p:extLst>
      <p:ext uri="{BB962C8B-B14F-4D97-AF65-F5344CB8AC3E}">
        <p14:creationId xmlns:p14="http://schemas.microsoft.com/office/powerpoint/2010/main" val="3983625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9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7F92A-4010-A933-219B-7FBBA0B08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4">
            <a:extLst>
              <a:ext uri="{FF2B5EF4-FFF2-40B4-BE49-F238E27FC236}">
                <a16:creationId xmlns:a16="http://schemas.microsoft.com/office/drawing/2014/main" id="{311C4E65-D17C-C920-D45C-D7A45DDD1169}"/>
              </a:ext>
            </a:extLst>
          </p:cNvPr>
          <p:cNvSpPr txBox="1">
            <a:spLocks/>
          </p:cNvSpPr>
          <p:nvPr/>
        </p:nvSpPr>
        <p:spPr>
          <a:xfrm>
            <a:off x="3427101" y="2158880"/>
            <a:ext cx="2289797" cy="412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lang="de-DE" sz="2500" b="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GB" sz="3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49557185"/>
      </p:ext>
    </p:extLst>
  </p:cSld>
  <p:clrMapOvr>
    <a:masterClrMapping/>
  </p:clrMapOvr>
</p:sld>
</file>

<file path=ppt/theme/theme1.xml><?xml version="1.0" encoding="utf-8"?>
<a:theme xmlns:a="http://schemas.openxmlformats.org/drawingml/2006/main" name="Titel 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71F9E29F-9B65-4C06-A32E-848D689232B9}" vid="{1E03A00F-5A34-475F-BA84-E2EBED434790}"/>
    </a:ext>
  </a:extLst>
</a:theme>
</file>

<file path=ppt/theme/theme2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71F9E29F-9B65-4C06-A32E-848D689232B9}" vid="{008B5212-AD15-4DA8-AB6C-182350FFA4EA}"/>
    </a:ext>
  </a:extLst>
</a:theme>
</file>

<file path=ppt/theme/theme3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71F9E29F-9B65-4C06-A32E-848D689232B9}" vid="{CFAC8027-78A3-4001-93FE-AE371D2D92B1}"/>
    </a:ext>
  </a:extLst>
</a:theme>
</file>

<file path=ppt/theme/theme4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71F9E29F-9B65-4C06-A32E-848D689232B9}" vid="{94C99F27-547F-408F-8FEB-51CB360826DB}"/>
    </a:ext>
  </a:extLst>
</a:theme>
</file>

<file path=ppt/theme/theme5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71F9E29F-9B65-4C06-A32E-848D689232B9}" vid="{D62E0DEB-27C1-4887-9BB6-4AC5FC555B75}"/>
    </a:ext>
  </a:extLst>
</a:theme>
</file>

<file path=ppt/theme/theme6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71F9E29F-9B65-4C06-A32E-848D689232B9}" vid="{D4175650-7EAE-421A-870A-005CB3789E30}"/>
    </a:ext>
  </a:extLst>
</a:theme>
</file>

<file path=ppt/theme/theme7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2111_Praesentationsvorlage_16-9</Template>
  <TotalTime>2717</TotalTime>
  <Words>171</Words>
  <Application>Microsoft Office PowerPoint</Application>
  <PresentationFormat>On-screen Show (16:9)</PresentationFormat>
  <Paragraphs>71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Arial</vt:lpstr>
      <vt:lpstr>Calibri</vt:lpstr>
      <vt:lpstr>Courier New</vt:lpstr>
      <vt:lpstr>Symbol</vt:lpstr>
      <vt:lpstr>Wingdings</vt:lpstr>
      <vt:lpstr>Titel 1</vt:lpstr>
      <vt:lpstr>Titel 2</vt:lpstr>
      <vt:lpstr>Titel 3</vt:lpstr>
      <vt:lpstr>Inhalt</vt:lpstr>
      <vt:lpstr>Kapiteltrenner blau</vt:lpstr>
      <vt:lpstr>Kapiteltrenner schwarz</vt:lpstr>
      <vt:lpstr>Geometric Nonlinear Isogeometric Shell Element Validation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Ravichandran</dc:creator>
  <cp:lastModifiedBy>Aakash Ravichandran</cp:lastModifiedBy>
  <cp:revision>72</cp:revision>
  <cp:lastPrinted>2015-07-30T14:04:45Z</cp:lastPrinted>
  <dcterms:created xsi:type="dcterms:W3CDTF">2024-12-20T06:01:01Z</dcterms:created>
  <dcterms:modified xsi:type="dcterms:W3CDTF">2025-12-08T16:41:19Z</dcterms:modified>
</cp:coreProperties>
</file>